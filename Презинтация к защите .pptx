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9" r:id="rId4"/>
    <p:sldId id="257" r:id="rId6"/>
    <p:sldId id="258" r:id="rId7"/>
    <p:sldId id="260" r:id="rId8"/>
    <p:sldId id="261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E40EF7-4FDB-46DC-AD5C-7AA9927BCDC4}" type="doc">
      <dgm:prSet loTypeId="process" loCatId="process" qsTypeId="urn:microsoft.com/office/officeart/2005/8/quickstyle/simple1" qsCatId="simple" csTypeId="urn:microsoft.com/office/officeart/2005/8/colors/accent1_2" csCatId="accent1" phldr="1"/>
      <dgm:spPr/>
      <dgm:t>
        <a:bodyPr/>
        <a:p>
          <a:endParaRPr lang="zh-CN" altLang="en-US"/>
        </a:p>
      </dgm:t>
    </dgm:pt>
    <dgm:pt modelId="{79A907BE-6A57-46F9-949B-2F83975E5013}">
      <dgm:prSet phldrT="[Текст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/>
            <a:t>Мастер-</a:t>
          </a:r>
          <a:r>
            <a:rPr lang="zh-CN" altLang="en-US" sz="2400"/>
            <a:t>пароль</a:t>
          </a:r>
          <a:r>
            <a:rPr lang="zh-CN" altLang="en-US" sz="1800"/>
            <a:t/>
          </a:r>
          <a:endParaRPr lang="zh-CN" altLang="en-US" sz="1800"/>
        </a:p>
      </dgm:t>
    </dgm:pt>
    <dgm:pt modelId="{27508ADE-09B9-4692-B3B1-997C0A038367}" cxnId="{D52B55DB-CA41-49D3-AA02-6647A39BE692}" type="parTrans">
      <dgm:prSet/>
      <dgm:spPr/>
      <dgm:t>
        <a:bodyPr/>
        <a:p>
          <a:endParaRPr lang="zh-CN" altLang="en-US"/>
        </a:p>
      </dgm:t>
    </dgm:pt>
    <dgm:pt modelId="{6E764295-1C97-4A8A-BB23-8F6587B65D20}" cxnId="{D52B55DB-CA41-49D3-AA02-6647A39BE692}" type="sibTrans">
      <dgm:prSet/>
      <dgm:spPr/>
      <dgm:t>
        <a:bodyPr/>
        <a:p>
          <a:endParaRPr lang="zh-CN" altLang="en-US"/>
        </a:p>
      </dgm:t>
    </dgm:pt>
    <dgm:pt modelId="{047E9EF6-99D9-47D4-8421-7851F36A512F}">
      <dgm:prSet phldrT="[Текст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/>
            <a:t>Argon2id (</a:t>
          </a:r>
          <a:r>
            <a:rPr lang="zh-CN" altLang="en-US" sz="2400"/>
            <a:t>аутентификация</a:t>
          </a:r>
          <a:r>
            <a:rPr lang="zh-CN" altLang="en-US" sz="1800"/>
            <a:t>)</a:t>
          </a:r>
          <a:r>
            <a:rPr lang="zh-CN" altLang="en-US" sz="1800"/>
            <a:t/>
          </a:r>
          <a:endParaRPr lang="zh-CN" altLang="en-US" sz="1800"/>
        </a:p>
      </dgm:t>
    </dgm:pt>
    <dgm:pt modelId="{2AC7BC3F-1829-4928-9FDD-1BD085861192}" cxnId="{3FB1AE70-F273-4920-B298-5F8287CFA840}" type="parTrans">
      <dgm:prSet/>
      <dgm:spPr/>
      <dgm:t>
        <a:bodyPr/>
        <a:p>
          <a:endParaRPr lang="zh-CN" altLang="en-US"/>
        </a:p>
      </dgm:t>
    </dgm:pt>
    <dgm:pt modelId="{B3A60D08-4CF1-4AD3-A554-8DA1472F6362}" cxnId="{3FB1AE70-F273-4920-B298-5F8287CFA840}" type="sibTrans">
      <dgm:prSet/>
      <dgm:spPr/>
      <dgm:t>
        <a:bodyPr/>
        <a:p>
          <a:endParaRPr lang="zh-CN" altLang="en-US"/>
        </a:p>
      </dgm:t>
    </dgm:pt>
    <dgm:pt modelId="{9B99C3CE-0550-4254-B164-BB9424E18E56}">
      <dgm:prSet phldrT="[Текст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/>
            <a:t>PBKDF2 </a:t>
          </a:r>
          <a:r>
            <a:rPr lang="zh-CN" altLang="en-US" sz="2800"/>
            <a:t>(</a:t>
          </a:r>
          <a:r>
            <a:rPr lang="zh-CN" altLang="en-US" sz="2000"/>
            <a:t>ключ</a:t>
          </a:r>
          <a:r>
            <a:rPr lang="zh-CN" altLang="en-US" sz="2800"/>
            <a:t>)</a:t>
          </a:r>
          <a:r>
            <a:rPr lang="zh-CN" altLang="en-US" sz="2800"/>
            <a:t/>
          </a:r>
          <a:endParaRPr lang="zh-CN" altLang="en-US" sz="2800"/>
        </a:p>
      </dgm:t>
    </dgm:pt>
    <dgm:pt modelId="{CF18C7ED-262E-47EB-A8BC-BC18A4B2756C}" cxnId="{8DD5691C-DA35-40E0-843A-1740396BAA28}" type="parTrans">
      <dgm:prSet/>
      <dgm:spPr/>
      <dgm:t>
        <a:bodyPr/>
        <a:p>
          <a:endParaRPr lang="zh-CN" altLang="en-US"/>
        </a:p>
      </dgm:t>
    </dgm:pt>
    <dgm:pt modelId="{C20DFEDB-A5DA-48B1-860C-C64E9FB9889D}" cxnId="{8DD5691C-DA35-40E0-843A-1740396BAA28}" type="sibTrans">
      <dgm:prSet/>
      <dgm:spPr/>
      <dgm:t>
        <a:bodyPr/>
        <a:p>
          <a:endParaRPr lang="zh-CN" altLang="en-US"/>
        </a:p>
      </dgm:t>
    </dgm:pt>
    <dgm:pt modelId="{16CE6A50-7BA3-422B-BBEC-2BD39BC3A29F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/>
            <a:t>AES-256-GCM</a:t>
          </a:r>
          <a:r>
            <a:rPr lang="zh-CN" altLang="en-US" sz="2400"/>
            <a:t/>
          </a:r>
          <a:endParaRPr lang="zh-CN" altLang="en-US" sz="2400"/>
        </a:p>
      </dgm:t>
    </dgm:pt>
    <dgm:pt modelId="{BCDE7F71-AB01-493A-AC30-DDDEF7DCF5F2}" cxnId="{AB4F4351-1FE1-4882-BBBE-9F0A2B949E61}" type="parTrans">
      <dgm:prSet/>
      <dgm:spPr/>
    </dgm:pt>
    <dgm:pt modelId="{CB4D16C8-4429-4A27-8B4E-EFAA3FBB04E7}" cxnId="{AB4F4351-1FE1-4882-BBBE-9F0A2B949E61}" type="sibTrans">
      <dgm:prSet/>
      <dgm:spPr/>
    </dgm:pt>
    <dgm:pt modelId="{1623B4C5-2499-4637-B07C-6AE8AE2BD718}" type="pres">
      <dgm:prSet presAssocID="{4BE40EF7-4FDB-46DC-AD5C-7AA9927BCDC4}" presName="Name0" presStyleCnt="0">
        <dgm:presLayoutVars>
          <dgm:dir/>
          <dgm:resizeHandles val="exact"/>
        </dgm:presLayoutVars>
      </dgm:prSet>
      <dgm:spPr/>
    </dgm:pt>
    <dgm:pt modelId="{2FBE2C1E-1D94-400F-A227-985D4DA10085}" type="pres">
      <dgm:prSet presAssocID="{79A907BE-6A57-46F9-949B-2F83975E5013}" presName="node" presStyleLbl="node1" presStyleIdx="0" presStyleCnt="4">
        <dgm:presLayoutVars>
          <dgm:bulletEnabled val="1"/>
        </dgm:presLayoutVars>
      </dgm:prSet>
      <dgm:spPr/>
    </dgm:pt>
    <dgm:pt modelId="{9F73252C-5345-45F1-A6FA-69E44781CCB0}" type="pres">
      <dgm:prSet presAssocID="{6E764295-1C97-4A8A-BB23-8F6587B65D20}" presName="sibTrans" presStyleLbl="sibTrans1D1" presStyleIdx="0" presStyleCnt="3"/>
      <dgm:spPr/>
    </dgm:pt>
    <dgm:pt modelId="{0A91809B-8299-4CB8-B3C9-28D901126CE1}" type="pres">
      <dgm:prSet presAssocID="{6E764295-1C97-4A8A-BB23-8F6587B65D20}" presName="connectorText" presStyleCnt="0"/>
      <dgm:spPr/>
    </dgm:pt>
    <dgm:pt modelId="{0482690C-586E-41D6-8B40-4CA7581A9CE9}" type="pres">
      <dgm:prSet presAssocID="{047E9EF6-99D9-47D4-8421-7851F36A512F}" presName="node" presStyleLbl="node1" presStyleIdx="1" presStyleCnt="4">
        <dgm:presLayoutVars>
          <dgm:bulletEnabled val="1"/>
        </dgm:presLayoutVars>
      </dgm:prSet>
      <dgm:spPr/>
    </dgm:pt>
    <dgm:pt modelId="{EBB69596-36AB-40F1-91C5-FC3350A00067}" type="pres">
      <dgm:prSet presAssocID="{B3A60D08-4CF1-4AD3-A554-8DA1472F6362}" presName="sibTrans" presStyleLbl="sibTrans1D1" presStyleIdx="1" presStyleCnt="3"/>
      <dgm:spPr/>
    </dgm:pt>
    <dgm:pt modelId="{9F0FF7A9-40E9-4C02-BFFF-6F0641C2389B}" type="pres">
      <dgm:prSet presAssocID="{B3A60D08-4CF1-4AD3-A554-8DA1472F6362}" presName="connectorText" presStyleCnt="0"/>
      <dgm:spPr/>
    </dgm:pt>
    <dgm:pt modelId="{E5145E43-B450-47CE-B1E5-1482BCF4071D}" type="pres">
      <dgm:prSet presAssocID="{9B99C3CE-0550-4254-B164-BB9424E18E56}" presName="node" presStyleLbl="node1" presStyleIdx="2" presStyleCnt="4">
        <dgm:presLayoutVars>
          <dgm:bulletEnabled val="1"/>
        </dgm:presLayoutVars>
      </dgm:prSet>
      <dgm:spPr/>
    </dgm:pt>
    <dgm:pt modelId="{31F3FE5F-74B2-48F8-89DC-AE29DBB498B0}" type="pres">
      <dgm:prSet presAssocID="{C20DFEDB-A5DA-48B1-860C-C64E9FB9889D}" presName="sibTrans" presStyleLbl="sibTrans1D1" presStyleIdx="2" presStyleCnt="3"/>
      <dgm:spPr/>
    </dgm:pt>
    <dgm:pt modelId="{EF27A438-6BA1-43B2-9139-DBAF3CBBEF89}" type="pres">
      <dgm:prSet presAssocID="{C20DFEDB-A5DA-48B1-860C-C64E9FB9889D}" presName="connectorText" presStyleCnt="0"/>
      <dgm:spPr/>
    </dgm:pt>
    <dgm:pt modelId="{64642F12-FEBB-4E8E-86BF-DD1BE23026E3}" type="pres">
      <dgm:prSet presAssocID="{16CE6A50-7BA3-422B-BBEC-2BD39BC3A29F}" presName="node" presStyleLbl="node1" presStyleIdx="3" presStyleCnt="4">
        <dgm:presLayoutVars>
          <dgm:bulletEnabled val="1"/>
        </dgm:presLayoutVars>
      </dgm:prSet>
      <dgm:spPr/>
    </dgm:pt>
  </dgm:ptLst>
  <dgm:cxnLst>
    <dgm:cxn modelId="{D52B55DB-CA41-49D3-AA02-6647A39BE692}" srcId="{4BE40EF7-4FDB-46DC-AD5C-7AA9927BCDC4}" destId="{79A907BE-6A57-46F9-949B-2F83975E5013}" srcOrd="0" destOrd="0" parTransId="{27508ADE-09B9-4692-B3B1-997C0A038367}" sibTransId="{6E764295-1C97-4A8A-BB23-8F6587B65D20}"/>
    <dgm:cxn modelId="{3FB1AE70-F273-4920-B298-5F8287CFA840}" srcId="{4BE40EF7-4FDB-46DC-AD5C-7AA9927BCDC4}" destId="{047E9EF6-99D9-47D4-8421-7851F36A512F}" srcOrd="1" destOrd="0" parTransId="{2AC7BC3F-1829-4928-9FDD-1BD085861192}" sibTransId="{B3A60D08-4CF1-4AD3-A554-8DA1472F6362}"/>
    <dgm:cxn modelId="{8DD5691C-DA35-40E0-843A-1740396BAA28}" srcId="{4BE40EF7-4FDB-46DC-AD5C-7AA9927BCDC4}" destId="{9B99C3CE-0550-4254-B164-BB9424E18E56}" srcOrd="2" destOrd="0" parTransId="{CF18C7ED-262E-47EB-A8BC-BC18A4B2756C}" sibTransId="{C20DFEDB-A5DA-48B1-860C-C64E9FB9889D}"/>
    <dgm:cxn modelId="{AB4F4351-1FE1-4882-BBBE-9F0A2B949E61}" srcId="{4BE40EF7-4FDB-46DC-AD5C-7AA9927BCDC4}" destId="{16CE6A50-7BA3-422B-BBEC-2BD39BC3A29F}" srcOrd="3" destOrd="0" parTransId="{BCDE7F71-AB01-493A-AC30-DDDEF7DCF5F2}" sibTransId="{CB4D16C8-4429-4A27-8B4E-EFAA3FBB04E7}"/>
    <dgm:cxn modelId="{9A80FF37-FDF2-4209-93AC-F08912AD425A}" type="presOf" srcId="{4BE40EF7-4FDB-46DC-AD5C-7AA9927BCDC4}" destId="{1623B4C5-2499-4637-B07C-6AE8AE2BD718}" srcOrd="0" destOrd="0" presId="urn:microsoft.com/office/officeart/2005/8/layout/bProcess3"/>
    <dgm:cxn modelId="{A18C8687-A660-4F9E-BDE3-45AF665B24C3}" type="presParOf" srcId="{1623B4C5-2499-4637-B07C-6AE8AE2BD718}" destId="{2FBE2C1E-1D94-400F-A227-985D4DA10085}" srcOrd="0" destOrd="0" presId="urn:microsoft.com/office/officeart/2005/8/layout/bProcess3"/>
    <dgm:cxn modelId="{5B2A175B-6505-406A-B298-FEBCA01A67B8}" type="presOf" srcId="{79A907BE-6A57-46F9-949B-2F83975E5013}" destId="{2FBE2C1E-1D94-400F-A227-985D4DA10085}" srcOrd="0" destOrd="0" presId="urn:microsoft.com/office/officeart/2005/8/layout/bProcess3"/>
    <dgm:cxn modelId="{9A80F294-7865-4A89-8F42-8E3FD2762B27}" type="presParOf" srcId="{1623B4C5-2499-4637-B07C-6AE8AE2BD718}" destId="{9F73252C-5345-45F1-A6FA-69E44781CCB0}" srcOrd="1" destOrd="0" presId="urn:microsoft.com/office/officeart/2005/8/layout/bProcess3"/>
    <dgm:cxn modelId="{4AF4922E-1759-450D-9626-0E9E01B81A3B}" type="presOf" srcId="{6E764295-1C97-4A8A-BB23-8F6587B65D20}" destId="{9F73252C-5345-45F1-A6FA-69E44781CCB0}" srcOrd="0" destOrd="0" presId="urn:microsoft.com/office/officeart/2005/8/layout/bProcess3"/>
    <dgm:cxn modelId="{DD71430C-393F-487E-BA8C-6C3608FD6C04}" type="presParOf" srcId="{9F73252C-5345-45F1-A6FA-69E44781CCB0}" destId="{0A91809B-8299-4CB8-B3C9-28D901126CE1}" srcOrd="0" destOrd="1" presId="urn:microsoft.com/office/officeart/2005/8/layout/bProcess3"/>
    <dgm:cxn modelId="{97981660-877E-4798-A6B1-972CC7DB47CC}" type="presOf" srcId="{6E764295-1C97-4A8A-BB23-8F6587B65D20}" destId="{0A91809B-8299-4CB8-B3C9-28D901126CE1}" srcOrd="1" destOrd="0" presId="urn:microsoft.com/office/officeart/2005/8/layout/bProcess3"/>
    <dgm:cxn modelId="{D63A8B46-053A-4E82-B37A-74AFED243B73}" type="presParOf" srcId="{1623B4C5-2499-4637-B07C-6AE8AE2BD718}" destId="{0482690C-586E-41D6-8B40-4CA7581A9CE9}" srcOrd="2" destOrd="0" presId="urn:microsoft.com/office/officeart/2005/8/layout/bProcess3"/>
    <dgm:cxn modelId="{CA27C38C-6BEE-4576-B25D-C8C08A24D274}" type="presOf" srcId="{047E9EF6-99D9-47D4-8421-7851F36A512F}" destId="{0482690C-586E-41D6-8B40-4CA7581A9CE9}" srcOrd="0" destOrd="0" presId="urn:microsoft.com/office/officeart/2005/8/layout/bProcess3"/>
    <dgm:cxn modelId="{225B439E-435C-42F3-8C11-D6455F0C7151}" type="presParOf" srcId="{1623B4C5-2499-4637-B07C-6AE8AE2BD718}" destId="{EBB69596-36AB-40F1-91C5-FC3350A00067}" srcOrd="3" destOrd="0" presId="urn:microsoft.com/office/officeart/2005/8/layout/bProcess3"/>
    <dgm:cxn modelId="{BF451E07-1039-47FC-976F-AC2B9C1059AC}" type="presOf" srcId="{B3A60D08-4CF1-4AD3-A554-8DA1472F6362}" destId="{EBB69596-36AB-40F1-91C5-FC3350A00067}" srcOrd="0" destOrd="0" presId="urn:microsoft.com/office/officeart/2005/8/layout/bProcess3"/>
    <dgm:cxn modelId="{DB58AB08-572E-437A-B3D0-F07049B2394F}" type="presParOf" srcId="{EBB69596-36AB-40F1-91C5-FC3350A00067}" destId="{9F0FF7A9-40E9-4C02-BFFF-6F0641C2389B}" srcOrd="0" destOrd="3" presId="urn:microsoft.com/office/officeart/2005/8/layout/bProcess3"/>
    <dgm:cxn modelId="{CFC03320-2953-4F82-B34A-F8D80E6D9E78}" type="presOf" srcId="{B3A60D08-4CF1-4AD3-A554-8DA1472F6362}" destId="{9F0FF7A9-40E9-4C02-BFFF-6F0641C2389B}" srcOrd="1" destOrd="0" presId="urn:microsoft.com/office/officeart/2005/8/layout/bProcess3"/>
    <dgm:cxn modelId="{384E4500-AFA7-4357-A00B-336C0C76EF7A}" type="presParOf" srcId="{1623B4C5-2499-4637-B07C-6AE8AE2BD718}" destId="{E5145E43-B450-47CE-B1E5-1482BCF4071D}" srcOrd="4" destOrd="0" presId="urn:microsoft.com/office/officeart/2005/8/layout/bProcess3"/>
    <dgm:cxn modelId="{D3CE95D1-47FF-4B6C-8D70-4A07726F81B2}" type="presOf" srcId="{9B99C3CE-0550-4254-B164-BB9424E18E56}" destId="{E5145E43-B450-47CE-B1E5-1482BCF4071D}" srcOrd="0" destOrd="0" presId="urn:microsoft.com/office/officeart/2005/8/layout/bProcess3"/>
    <dgm:cxn modelId="{0C1778FF-B888-4725-947E-5FD2C51B0714}" type="presParOf" srcId="{1623B4C5-2499-4637-B07C-6AE8AE2BD718}" destId="{31F3FE5F-74B2-48F8-89DC-AE29DBB498B0}" srcOrd="5" destOrd="0" presId="urn:microsoft.com/office/officeart/2005/8/layout/bProcess3"/>
    <dgm:cxn modelId="{D0B3CB47-F538-48DC-8F5E-594333DD8143}" type="presOf" srcId="{C20DFEDB-A5DA-48B1-860C-C64E9FB9889D}" destId="{31F3FE5F-74B2-48F8-89DC-AE29DBB498B0}" srcOrd="0" destOrd="0" presId="urn:microsoft.com/office/officeart/2005/8/layout/bProcess3"/>
    <dgm:cxn modelId="{8CDF76BB-25AC-4DC7-9794-F59A959811AF}" type="presParOf" srcId="{31F3FE5F-74B2-48F8-89DC-AE29DBB498B0}" destId="{EF27A438-6BA1-43B2-9139-DBAF3CBBEF89}" srcOrd="0" destOrd="5" presId="urn:microsoft.com/office/officeart/2005/8/layout/bProcess3"/>
    <dgm:cxn modelId="{D3C5E4DF-43B8-4B8F-A4D3-AC7A7B74BA6D}" type="presOf" srcId="{C20DFEDB-A5DA-48B1-860C-C64E9FB9889D}" destId="{EF27A438-6BA1-43B2-9139-DBAF3CBBEF89}" srcOrd="1" destOrd="0" presId="urn:microsoft.com/office/officeart/2005/8/layout/bProcess3"/>
    <dgm:cxn modelId="{E234B1AD-0259-4685-AFB6-6345E28B5F48}" type="presParOf" srcId="{1623B4C5-2499-4637-B07C-6AE8AE2BD718}" destId="{64642F12-FEBB-4E8E-86BF-DD1BE23026E3}" srcOrd="6" destOrd="0" presId="urn:microsoft.com/office/officeart/2005/8/layout/bProcess3"/>
    <dgm:cxn modelId="{CD7A3501-C830-4E9D-BDA1-615AFD961153}" type="presOf" srcId="{16CE6A50-7BA3-422B-BBEC-2BD39BC3A29F}" destId="{64642F12-FEBB-4E8E-86BF-DD1BE23026E3}" srcOrd="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Группа 1"/>
      <dsp:cNvGrpSpPr/>
    </dsp:nvGrpSpPr>
    <dsp:grpSpPr>
      <a:xfrm>
        <a:off x="0" y="0"/>
        <a:ext cx="4739640" cy="4458335"/>
        <a:chOff x="0" y="0"/>
        <a:chExt cx="4739640" cy="4458335"/>
      </a:xfrm>
    </dsp:grpSpPr>
    <dsp:sp modelId="{9F73252C-5345-45F1-A6FA-69E44781CCB0}">
      <dsp:nvSpPr>
        <dsp:cNvPr id="4" name="Полилиния 3"/>
        <dsp:cNvSpPr/>
      </dsp:nvSpPr>
      <dsp:spPr bwMode="white">
        <a:xfrm>
          <a:off x="2127816" y="1347231"/>
          <a:ext cx="489169" cy="0"/>
        </a:xfrm>
        <a:custGeom>
          <a:avLst/>
          <a:gdLst/>
          <a:ahLst/>
          <a:cxnLst/>
          <a:pathLst>
            <a:path w="770">
              <a:moveTo>
                <a:pt x="0" y="0"/>
              </a:moveTo>
              <a:lnTo>
                <a:pt x="770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1">
            <a:shade val="90000"/>
            <a:hueOff val="0"/>
            <a:satOff val="0"/>
            <a:lumOff val="0"/>
            <a:alpha val="100000"/>
          </a:schemeClr>
        </a:lnRef>
        <a:fillRef idx="0">
          <a:schemeClr val="accent1">
            <a:shade val="90000"/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2127816" y="1347231"/>
        <a:ext cx="489169" cy="0"/>
      </dsp:txXfrm>
    </dsp:sp>
    <dsp:sp modelId="{2FBE2C1E-1D94-400F-A227-985D4DA10085}">
      <dsp:nvSpPr>
        <dsp:cNvPr id="3" name="Прямоугольник 2"/>
        <dsp:cNvSpPr/>
      </dsp:nvSpPr>
      <dsp:spPr bwMode="white">
        <a:xfrm>
          <a:off x="995" y="709185"/>
          <a:ext cx="2126821" cy="12760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28016" tIns="128016" rIns="128016" bIns="128016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/>
            <a:t>Мастер-</a:t>
          </a:r>
          <a:r>
            <a:rPr lang="zh-CN" altLang="en-US" sz="2400"/>
            <a:t>пароль</a:t>
          </a:r>
          <a:endParaRPr lang="zh-CN" altLang="en-US" sz="1800"/>
        </a:p>
      </dsp:txBody>
      <dsp:txXfrm>
        <a:off x="995" y="709185"/>
        <a:ext cx="2126821" cy="1276093"/>
      </dsp:txXfrm>
    </dsp:sp>
    <dsp:sp modelId="{EBB69596-36AB-40F1-91C5-FC3350A00067}">
      <dsp:nvSpPr>
        <dsp:cNvPr id="6" name="Полилиния 5"/>
        <dsp:cNvSpPr/>
      </dsp:nvSpPr>
      <dsp:spPr bwMode="white">
        <a:xfrm>
          <a:off x="1064406" y="1985277"/>
          <a:ext cx="2615990" cy="487780"/>
        </a:xfrm>
        <a:custGeom>
          <a:avLst/>
          <a:gdLst/>
          <a:ahLst/>
          <a:cxnLst/>
          <a:pathLst>
            <a:path w="4120" h="768">
              <a:moveTo>
                <a:pt x="4120" y="0"/>
              </a:moveTo>
              <a:lnTo>
                <a:pt x="4120" y="384"/>
              </a:lnTo>
              <a:lnTo>
                <a:pt x="0" y="384"/>
              </a:lnTo>
              <a:lnTo>
                <a:pt x="0" y="768"/>
              </a:lnTo>
            </a:path>
          </a:pathLst>
        </a:custGeom>
        <a:ln>
          <a:tailEnd type="arrow" w="lg" len="med"/>
        </a:ln>
      </dsp:spPr>
      <dsp:style>
        <a:lnRef idx="1">
          <a:schemeClr val="accent1">
            <a:shade val="90000"/>
            <a:hueOff val="300000"/>
            <a:satOff val="-29411"/>
            <a:lumOff val="24706"/>
            <a:alpha val="100000"/>
          </a:schemeClr>
        </a:lnRef>
        <a:fillRef idx="0">
          <a:schemeClr val="accent1">
            <a:shade val="90000"/>
            <a:hueOff val="300000"/>
            <a:satOff val="-29411"/>
            <a:lumOff val="24706"/>
            <a:alpha val="10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3000"/>
          </a:lvl1pPr>
          <a:lvl2pPr marL="228600" indent="-228600" algn="ctr">
            <a:defRPr sz="2300"/>
          </a:lvl2pPr>
          <a:lvl3pPr marL="457200" indent="-228600" algn="ctr">
            <a:defRPr sz="2300"/>
          </a:lvl3pPr>
          <a:lvl4pPr marL="685800" indent="-228600" algn="ctr">
            <a:defRPr sz="2300"/>
          </a:lvl4pPr>
          <a:lvl5pPr marL="914400" indent="-228600" algn="ctr">
            <a:defRPr sz="2300"/>
          </a:lvl5pPr>
          <a:lvl6pPr marL="1143000" indent="-228600" algn="ctr">
            <a:defRPr sz="2300"/>
          </a:lvl6pPr>
          <a:lvl7pPr marL="1371600" indent="-228600" algn="ctr">
            <a:defRPr sz="2300"/>
          </a:lvl7pPr>
          <a:lvl8pPr marL="1600200" indent="-228600" algn="ctr">
            <a:defRPr sz="2300"/>
          </a:lvl8pPr>
          <a:lvl9pPr marL="1828800" indent="-228600" algn="ctr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1064406" y="1985277"/>
        <a:ext cx="2615990" cy="487780"/>
      </dsp:txXfrm>
    </dsp:sp>
    <dsp:sp modelId="{0482690C-586E-41D6-8B40-4CA7581A9CE9}">
      <dsp:nvSpPr>
        <dsp:cNvPr id="5" name="Прямоугольник 4"/>
        <dsp:cNvSpPr/>
      </dsp:nvSpPr>
      <dsp:spPr bwMode="white">
        <a:xfrm>
          <a:off x="2616985" y="709185"/>
          <a:ext cx="2126821" cy="12760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76863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28016" tIns="128016" rIns="128016" bIns="128016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/>
            <a:t>Argon2id (</a:t>
          </a:r>
          <a:r>
            <a:rPr lang="zh-CN" altLang="en-US" sz="2400"/>
            <a:t>аутентификация</a:t>
          </a:r>
          <a:r>
            <a:rPr lang="zh-CN" altLang="en-US" sz="1800"/>
            <a:t>)</a:t>
          </a:r>
          <a:endParaRPr lang="zh-CN" altLang="en-US" sz="1800"/>
        </a:p>
      </dsp:txBody>
      <dsp:txXfrm>
        <a:off x="2616985" y="709185"/>
        <a:ext cx="2126821" cy="1276093"/>
      </dsp:txXfrm>
    </dsp:sp>
    <dsp:sp modelId="{31F3FE5F-74B2-48F8-89DC-AE29DBB498B0}">
      <dsp:nvSpPr>
        <dsp:cNvPr id="8" name="Полилиния 7"/>
        <dsp:cNvSpPr/>
      </dsp:nvSpPr>
      <dsp:spPr bwMode="white">
        <a:xfrm>
          <a:off x="2127816" y="3111104"/>
          <a:ext cx="489169" cy="0"/>
        </a:xfrm>
        <a:custGeom>
          <a:avLst/>
          <a:gdLst/>
          <a:ahLst/>
          <a:cxnLst/>
          <a:pathLst>
            <a:path w="770">
              <a:moveTo>
                <a:pt x="0" y="0"/>
              </a:moveTo>
              <a:lnTo>
                <a:pt x="770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1">
            <a:shade val="90000"/>
            <a:hueOff val="600000"/>
            <a:satOff val="-58823"/>
            <a:lumOff val="49412"/>
            <a:alpha val="100000"/>
          </a:schemeClr>
        </a:lnRef>
        <a:fillRef idx="0">
          <a:schemeClr val="accent1">
            <a:shade val="90000"/>
            <a:hueOff val="600000"/>
            <a:satOff val="-58823"/>
            <a:lumOff val="49412"/>
            <a:alpha val="10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2127816" y="3111104"/>
        <a:ext cx="489169" cy="0"/>
      </dsp:txXfrm>
    </dsp:sp>
    <dsp:sp modelId="{E5145E43-B450-47CE-B1E5-1482BCF4071D}">
      <dsp:nvSpPr>
        <dsp:cNvPr id="7" name="Прямоугольник 6"/>
        <dsp:cNvSpPr/>
      </dsp:nvSpPr>
      <dsp:spPr bwMode="white">
        <a:xfrm>
          <a:off x="995" y="2473058"/>
          <a:ext cx="2126821" cy="12760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63529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42240" tIns="142240" rIns="142240" bIns="1422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/>
            <a:t>PBKDF2 </a:t>
          </a:r>
          <a:r>
            <a:rPr lang="zh-CN" altLang="en-US" sz="2800"/>
            <a:t>(</a:t>
          </a:r>
          <a:r>
            <a:rPr lang="zh-CN" altLang="en-US" sz="2000"/>
            <a:t>ключ</a:t>
          </a:r>
          <a:r>
            <a:rPr lang="zh-CN" altLang="en-US" sz="2800"/>
            <a:t>)</a:t>
          </a:r>
          <a:endParaRPr lang="zh-CN" altLang="en-US" sz="2800"/>
        </a:p>
      </dsp:txBody>
      <dsp:txXfrm>
        <a:off x="995" y="2473058"/>
        <a:ext cx="2126821" cy="1276093"/>
      </dsp:txXfrm>
    </dsp:sp>
    <dsp:sp modelId="{64642F12-FEBB-4E8E-86BF-DD1BE23026E3}">
      <dsp:nvSpPr>
        <dsp:cNvPr id="9" name="Прямоугольник 8"/>
        <dsp:cNvSpPr/>
      </dsp:nvSpPr>
      <dsp:spPr bwMode="white">
        <a:xfrm>
          <a:off x="2616985" y="2473058"/>
          <a:ext cx="2126821" cy="12760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70688" tIns="170688" rIns="170688" bIns="170688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/>
            <a:t>AES-256-GCM</a:t>
          </a:r>
          <a:endParaRPr lang="zh-CN" altLang="en-US" sz="2400"/>
        </a:p>
      </dsp:txBody>
      <dsp:txXfrm>
        <a:off x="2616985" y="2473058"/>
        <a:ext cx="2126821" cy="12760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bkpt" val="endCnv"/>
          <dgm:param type="contDir" val="sameDir"/>
          <dgm:param type="grDir" val="tL"/>
          <dgm:param type="flowDir" val="row"/>
        </dgm:alg>
      </dgm:if>
      <dgm:else name="Name3">
        <dgm:alg type="snake">
          <dgm:param type="bkpt" val="endCnv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dim" val="1D"/>
                <dgm:param type="connRout" val="bend"/>
                <dgm:param type="begPts" val="midR bCtr"/>
                <dgm:param type="endPts" val="midL tCtr"/>
              </dgm:alg>
            </dgm:if>
            <dgm:else name="Name6">
              <dgm:alg type="conn">
                <dgm:param type="dim" val="1D"/>
                <dgm:param type="connRout" val="ben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6CAC3-7D0E-4DBC-94E0-F2858729678F}" type="datetimeFigureOut">
              <a:rPr lang="ru-RU" smtClean="0"/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3796D-C0D2-4D3D-8713-9D0F5D1AF355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3796D-C0D2-4D3D-8713-9D0F5D1AF355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3796D-C0D2-4D3D-8713-9D0F5D1AF355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3796D-C0D2-4D3D-8713-9D0F5D1AF355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3796D-C0D2-4D3D-8713-9D0F5D1AF355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3796D-C0D2-4D3D-8713-9D0F5D1AF355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B6357-AB9D-476C-A6F4-F7D10A935359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9AD-569F-4591-BFF5-722CC9A390D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B6357-AB9D-476C-A6F4-F7D10A935359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9AD-569F-4591-BFF5-722CC9A390D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B6357-AB9D-476C-A6F4-F7D10A935359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9AD-569F-4591-BFF5-722CC9A390D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B6357-AB9D-476C-A6F4-F7D10A935359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9AD-569F-4591-BFF5-722CC9A390D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B6357-AB9D-476C-A6F4-F7D10A935359}" type="datetimeFigureOut">
              <a:rPr lang="ru-RU" smtClean="0"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9AD-569F-4591-BFF5-722CC9A390D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B6357-AB9D-476C-A6F4-F7D10A935359}" type="datetimeFigureOut">
              <a:rPr lang="ru-RU" smtClean="0"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9AD-569F-4591-BFF5-722CC9A390D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B6357-AB9D-476C-A6F4-F7D10A935359}" type="datetimeFigureOut">
              <a:rPr lang="ru-RU" smtClean="0"/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9AD-569F-4591-BFF5-722CC9A390D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B6357-AB9D-476C-A6F4-F7D10A935359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9AD-569F-4591-BFF5-722CC9A390D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B6357-AB9D-476C-A6F4-F7D10A935359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9AD-569F-4591-BFF5-722CC9A390D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B6357-AB9D-476C-A6F4-F7D10A935359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9AD-569F-4591-BFF5-722CC9A390D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B6357-AB9D-476C-A6F4-F7D10A935359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9AD-569F-4591-BFF5-722CC9A390D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5B6357-AB9D-476C-A6F4-F7D10A935359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4C99AD-569F-4591-BFF5-722CC9A390D8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hyperlink" Target="https://coverage.py/" TargetMode="Externa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2"/>
          <p:cNvSpPr>
            <a:spLocks noGrp="1"/>
          </p:cNvSpPr>
          <p:nvPr/>
        </p:nvSpPr>
        <p:spPr>
          <a:xfrm>
            <a:off x="7638958" y="4152960"/>
            <a:ext cx="4112641" cy="2176920"/>
          </a:xfrm>
          <a:prstGeom prst="rect">
            <a:avLst/>
          </a:prstGeom>
          <a:noFill/>
          <a:ln w="0">
            <a:noFill/>
          </a:ln>
        </p:spPr>
        <p:txBody>
          <a:bodyPr vert="horz" lIns="0" tIns="0" rIns="0" bIns="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1000"/>
              </a:spcBef>
              <a:buNone/>
              <a:tabLst>
                <a:tab pos="0" algn="l"/>
              </a:tabLst>
            </a:pPr>
            <a:r>
              <a:rPr lang="ru-RU" sz="1800" b="1" spc="-1" dirty="0">
                <a:solidFill>
                  <a:srgbClr val="000000"/>
                </a:solidFill>
                <a:latin typeface="Calibri" panose="020F0502020204030204"/>
              </a:rPr>
              <a:t>Руководитель</a:t>
            </a:r>
            <a:r>
              <a:rPr lang="en-US" sz="1800" b="1" spc="-1" dirty="0">
                <a:solidFill>
                  <a:srgbClr val="000000"/>
                </a:solidFill>
                <a:latin typeface="Calibri" panose="020F0502020204030204"/>
              </a:rPr>
              <a:t>:</a:t>
            </a:r>
            <a:endParaRPr lang="ru-RU" sz="1800" spc="-1" dirty="0">
              <a:latin typeface="Arial" panose="020B0604020202020204"/>
            </a:endParaRPr>
          </a:p>
          <a:p>
            <a:pPr algn="r">
              <a:spcBef>
                <a:spcPts val="1000"/>
              </a:spcBef>
              <a:buNone/>
              <a:tabLst>
                <a:tab pos="0" algn="l"/>
              </a:tabLst>
            </a:pPr>
            <a:r>
              <a:rPr lang="ru-RU" sz="1800" spc="-1" dirty="0">
                <a:solidFill>
                  <a:srgbClr val="000000"/>
                </a:solidFill>
                <a:latin typeface="Calibri" panose="020F0502020204030204"/>
              </a:rPr>
              <a:t>Монахов Юрий Михайлович</a:t>
            </a:r>
            <a:endParaRPr lang="ru-RU" sz="1800" b="1" spc="-1" dirty="0">
              <a:solidFill>
                <a:srgbClr val="000000"/>
              </a:solidFill>
              <a:latin typeface="Calibri" panose="020F0502020204030204"/>
            </a:endParaRPr>
          </a:p>
          <a:p>
            <a:pPr algn="r">
              <a:spcBef>
                <a:spcPts val="1000"/>
              </a:spcBef>
              <a:buNone/>
              <a:tabLst>
                <a:tab pos="0" algn="l"/>
              </a:tabLst>
            </a:pPr>
            <a:r>
              <a:rPr lang="ru-RU" sz="1800" b="1" spc="-1" dirty="0">
                <a:solidFill>
                  <a:srgbClr val="000000"/>
                </a:solidFill>
                <a:latin typeface="Calibri" panose="020F0502020204030204"/>
              </a:rPr>
              <a:t>Исполнители</a:t>
            </a:r>
            <a:r>
              <a:rPr lang="en-US" sz="1800" b="1" spc="-1" dirty="0">
                <a:solidFill>
                  <a:srgbClr val="000000"/>
                </a:solidFill>
                <a:latin typeface="Calibri" panose="020F0502020204030204"/>
              </a:rPr>
              <a:t>:</a:t>
            </a:r>
            <a:endParaRPr lang="ru-RU" sz="1800" spc="-1" dirty="0">
              <a:latin typeface="Arial" panose="020B0604020202020204"/>
            </a:endParaRPr>
          </a:p>
          <a:p>
            <a:pPr algn="r">
              <a:spcBef>
                <a:spcPts val="1000"/>
              </a:spcBef>
              <a:buNone/>
              <a:tabLst>
                <a:tab pos="0" algn="l"/>
              </a:tabLst>
            </a:pPr>
            <a:r>
              <a:rPr lang="ru-RU" sz="1800" spc="-1" dirty="0">
                <a:latin typeface="Arial" panose="020B0604020202020204"/>
              </a:rPr>
              <a:t>Ст. Гр. ИБ-124 Трынкина М.В..</a:t>
            </a:r>
            <a:endParaRPr lang="ru-RU" sz="1800" spc="-1" dirty="0">
              <a:latin typeface="Arial" panose="020B0604020202020204"/>
            </a:endParaRPr>
          </a:p>
          <a:p>
            <a:pPr algn="r">
              <a:spcBef>
                <a:spcPts val="1000"/>
              </a:spcBef>
              <a:buNone/>
              <a:tabLst>
                <a:tab pos="0" algn="l"/>
              </a:tabLst>
            </a:pPr>
            <a:endParaRPr lang="ru-RU" sz="1800" spc="-1" dirty="0">
              <a:latin typeface="Arial" panose="020B0604020202020204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6925440" y="504156"/>
            <a:ext cx="5075095" cy="936204"/>
            <a:chOff x="6925440" y="504156"/>
            <a:chExt cx="5075095" cy="936204"/>
          </a:xfrm>
        </p:grpSpPr>
        <p:pic>
          <p:nvPicPr>
            <p:cNvPr id="4" name="Picture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925440" y="504156"/>
              <a:ext cx="2055240" cy="9122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" name="TextBox 4"/>
            <p:cNvSpPr/>
            <p:nvPr/>
          </p:nvSpPr>
          <p:spPr>
            <a:xfrm>
              <a:off x="9229255" y="527760"/>
              <a:ext cx="2771280" cy="91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buNone/>
              </a:pPr>
              <a:r>
                <a:rPr lang="ru-RU" sz="1800" b="0" strike="noStrike" spc="-1" dirty="0">
                  <a:solidFill>
                    <a:srgbClr val="000000"/>
                  </a:solidFill>
                  <a:latin typeface="Calibri" panose="020F0502020204030204"/>
                  <a:ea typeface="DejaVu Sans"/>
                </a:rPr>
                <a:t>Кафедра информатики и</a:t>
              </a:r>
              <a:endParaRPr lang="ru-RU" sz="1800" b="0" strike="noStrike" spc="-1" dirty="0">
                <a:latin typeface="Arial" panose="020B0604020202020204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ru-RU" sz="1800" b="0" strike="noStrike" spc="-1" dirty="0">
                  <a:solidFill>
                    <a:srgbClr val="000000"/>
                  </a:solidFill>
                  <a:latin typeface="Calibri" panose="020F0502020204030204"/>
                  <a:ea typeface="DejaVu Sans"/>
                </a:rPr>
                <a:t>защиты информации (ИЗИ)</a:t>
              </a:r>
              <a:endParaRPr lang="ru-RU" sz="1800" b="0" strike="noStrike" spc="-1" dirty="0">
                <a:latin typeface="Arial" panose="020B0604020202020204"/>
              </a:endParaRPr>
            </a:p>
          </p:txBody>
        </p:sp>
      </p:grpSp>
      <p:sp>
        <p:nvSpPr>
          <p:cNvPr id="7" name="PlaceHolder 3"/>
          <p:cNvSpPr>
            <a:spLocks noGrp="1"/>
          </p:cNvSpPr>
          <p:nvPr/>
        </p:nvSpPr>
        <p:spPr>
          <a:xfrm>
            <a:off x="4039680" y="6199380"/>
            <a:ext cx="4112640" cy="464760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rtlCol="0" anchor="ctr">
            <a:noAutofit/>
          </a:bodyPr>
          <a:lstStyle>
            <a:defPPr>
              <a:defRPr lang="ru-RU"/>
            </a:defPPr>
            <a:lvl1pPr marL="0" algn="ctr" defTabSz="914400" rtl="0" eaLnBrk="1" latinLnBrk="0" hangingPunct="1">
              <a:lnSpc>
                <a:spcPct val="100000"/>
              </a:lnSpc>
              <a:buNone/>
              <a:defRPr lang="ru-RU" sz="1600" b="0" strike="noStrike" kern="1200" spc="-1"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lang="ru-RU" sz="1600" b="0" strike="noStrike" spc="-1" dirty="0">
                <a:solidFill>
                  <a:srgbClr val="000000"/>
                </a:solidFill>
                <a:latin typeface="Calibri" panose="020F0502020204030204"/>
              </a:rPr>
              <a:t>г. Владимир 2026</a:t>
            </a:r>
            <a:endParaRPr lang="ru-RU" sz="1600" b="0" strike="noStrike" spc="-1" dirty="0">
              <a:latin typeface="Times New Roman" panose="02020603050405020304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32485" y="207900"/>
            <a:ext cx="5388655" cy="1552320"/>
            <a:chOff x="432485" y="207900"/>
            <a:chExt cx="5388655" cy="1552320"/>
          </a:xfrm>
        </p:grpSpPr>
        <p:sp>
          <p:nvSpPr>
            <p:cNvPr id="5" name="TextBox 3"/>
            <p:cNvSpPr/>
            <p:nvPr/>
          </p:nvSpPr>
          <p:spPr>
            <a:xfrm>
              <a:off x="2258220" y="366816"/>
              <a:ext cx="3562920" cy="118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buNone/>
              </a:pPr>
              <a:r>
                <a:rPr lang="ru-RU" sz="1800" b="0" strike="noStrike" spc="-1" dirty="0">
                  <a:solidFill>
                    <a:srgbClr val="000000"/>
                  </a:solidFill>
                  <a:latin typeface="Calibri" panose="020F0502020204030204"/>
                  <a:ea typeface="DejaVu Sans"/>
                </a:rPr>
                <a:t>ВЛАДИМИРСКИЙ </a:t>
              </a:r>
              <a:endParaRPr lang="ru-RU" sz="1800" b="0" strike="noStrike" spc="-1" dirty="0">
                <a:latin typeface="Arial" panose="020B0604020202020204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ru-RU" sz="1800" b="0" strike="noStrike" spc="-1" dirty="0">
                  <a:solidFill>
                    <a:srgbClr val="000000"/>
                  </a:solidFill>
                  <a:latin typeface="Calibri" panose="020F0502020204030204"/>
                  <a:ea typeface="DejaVu Sans"/>
                </a:rPr>
                <a:t>ГОСУДАРСТВЕННЫЙ УНИВЕРСИТЕТ</a:t>
              </a:r>
              <a:endParaRPr lang="ru-RU" sz="1800" b="0" strike="noStrike" spc="-1" dirty="0">
                <a:latin typeface="Arial" panose="020B0604020202020204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ru-RU" sz="1800" b="0" strike="noStrike" spc="-1" dirty="0">
                  <a:solidFill>
                    <a:srgbClr val="000000"/>
                  </a:solidFill>
                  <a:latin typeface="Calibri" panose="020F0502020204030204"/>
                  <a:ea typeface="DejaVu Sans"/>
                </a:rPr>
                <a:t>имени Александра Григорьевича и</a:t>
              </a:r>
              <a:endParaRPr lang="ru-RU" sz="1800" b="0" strike="noStrike" spc="-1" dirty="0">
                <a:latin typeface="Arial" panose="020B0604020202020204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ru-RU" sz="1800" b="0" strike="noStrike" spc="-1" dirty="0">
                  <a:solidFill>
                    <a:srgbClr val="000000"/>
                  </a:solidFill>
                  <a:latin typeface="Calibri" panose="020F0502020204030204"/>
                  <a:ea typeface="DejaVu Sans"/>
                </a:rPr>
                <a:t>Николая Григорьевича Столетовых</a:t>
              </a:r>
              <a:endParaRPr lang="ru-RU" sz="1800" b="0" strike="noStrike" spc="-1" dirty="0">
                <a:latin typeface="Arial" panose="020B0604020202020204"/>
              </a:endParaRPr>
            </a:p>
          </p:txBody>
        </p:sp>
        <p:pic>
          <p:nvPicPr>
            <p:cNvPr id="9" name="Picture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485" y="207900"/>
              <a:ext cx="1577160" cy="15523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2" name="Group 11"/>
          <p:cNvGrpSpPr/>
          <p:nvPr/>
        </p:nvGrpSpPr>
        <p:grpSpPr>
          <a:xfrm>
            <a:off x="-1" y="1811626"/>
            <a:ext cx="12192000" cy="1739449"/>
            <a:chOff x="-1" y="1811626"/>
            <a:chExt cx="12192000" cy="1739449"/>
          </a:xfrm>
        </p:grpSpPr>
        <p:sp>
          <p:nvSpPr>
            <p:cNvPr id="8" name="Rectangle 7"/>
            <p:cNvSpPr/>
            <p:nvPr/>
          </p:nvSpPr>
          <p:spPr>
            <a:xfrm>
              <a:off x="-1" y="1811626"/>
              <a:ext cx="12192000" cy="1739449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5415" y="2327407"/>
              <a:ext cx="11921167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ru-RU" sz="4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CryptoSafe Manager</a:t>
              </a:r>
              <a:endParaRPr lang="en-US" altLang="ru-RU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Текстовое поле 1"/>
          <p:cNvSpPr txBox="1"/>
          <p:nvPr/>
        </p:nvSpPr>
        <p:spPr>
          <a:xfrm>
            <a:off x="432435" y="4322127"/>
            <a:ext cx="5080000" cy="1106805"/>
          </a:xfrm>
          <a:prstGeom prst="rect">
            <a:avLst/>
          </a:prstGeom>
        </p:spPr>
        <p:txBody>
          <a:bodyPr>
            <a:spAutoFit/>
          </a:bodyPr>
          <a:p>
            <a:pPr marL="0" indent="0" latinLnBrk="1">
              <a:lnSpc>
                <a:spcPts val="1320"/>
              </a:lnSpc>
              <a:spcBef>
                <a:spcPct val="0"/>
              </a:spcBef>
              <a:spcAft>
                <a:spcPct val="0"/>
              </a:spcAft>
            </a:pPr>
            <a:r>
              <a:rPr sz="1600" b="0">
                <a:solidFill>
                  <a:srgbClr val="0F1115"/>
                </a:solidFill>
                <a:latin typeface="Calibri" panose="020F0502020204030204" charset="0"/>
                <a:ea typeface="menlo"/>
                <a:cs typeface="Calibri" panose="020F0502020204030204" charset="0"/>
              </a:rPr>
              <a:t>Технологии:</a:t>
            </a:r>
            <a:endParaRPr sz="1600" b="0">
              <a:solidFill>
                <a:srgbClr val="0F1115"/>
              </a:solidFill>
              <a:latin typeface="Calibri" panose="020F0502020204030204" charset="0"/>
              <a:ea typeface="menlo"/>
              <a:cs typeface="Calibri" panose="020F0502020204030204" charset="0"/>
            </a:endParaRPr>
          </a:p>
          <a:p>
            <a:pPr marL="0" indent="0" latinLnBrk="1">
              <a:lnSpc>
                <a:spcPts val="1320"/>
              </a:lnSpc>
              <a:spcBef>
                <a:spcPct val="0"/>
              </a:spcBef>
              <a:spcAft>
                <a:spcPct val="0"/>
              </a:spcAft>
            </a:pPr>
            <a:r>
              <a:rPr sz="1600" b="0">
                <a:solidFill>
                  <a:srgbClr val="0F1115"/>
                </a:solidFill>
                <a:latin typeface="Calibri" panose="020F0502020204030204" charset="0"/>
                <a:ea typeface="menlo"/>
                <a:cs typeface="Calibri" panose="020F0502020204030204" charset="0"/>
              </a:rPr>
              <a:t>- Python 3.11</a:t>
            </a:r>
            <a:endParaRPr sz="1600" b="0">
              <a:solidFill>
                <a:srgbClr val="0F1115"/>
              </a:solidFill>
              <a:latin typeface="Calibri" panose="020F0502020204030204" charset="0"/>
              <a:ea typeface="menlo"/>
              <a:cs typeface="Calibri" panose="020F0502020204030204" charset="0"/>
            </a:endParaRPr>
          </a:p>
          <a:p>
            <a:pPr marL="0" indent="0" latinLnBrk="1">
              <a:lnSpc>
                <a:spcPts val="1320"/>
              </a:lnSpc>
              <a:spcBef>
                <a:spcPct val="0"/>
              </a:spcBef>
              <a:spcAft>
                <a:spcPct val="0"/>
              </a:spcAft>
            </a:pPr>
            <a:r>
              <a:rPr sz="1600" b="0">
                <a:solidFill>
                  <a:srgbClr val="0F1115"/>
                </a:solidFill>
                <a:latin typeface="Calibri" panose="020F0502020204030204" charset="0"/>
                <a:ea typeface="menlo"/>
                <a:cs typeface="Calibri" panose="020F0502020204030204" charset="0"/>
              </a:rPr>
              <a:t>- AES-256-GCM (шифрование)</a:t>
            </a:r>
            <a:endParaRPr sz="1600" b="0">
              <a:solidFill>
                <a:srgbClr val="0F1115"/>
              </a:solidFill>
              <a:latin typeface="Calibri" panose="020F0502020204030204" charset="0"/>
              <a:ea typeface="menlo"/>
              <a:cs typeface="Calibri" panose="020F0502020204030204" charset="0"/>
            </a:endParaRPr>
          </a:p>
          <a:p>
            <a:pPr marL="0" indent="0" latinLnBrk="1">
              <a:lnSpc>
                <a:spcPts val="1320"/>
              </a:lnSpc>
              <a:spcBef>
                <a:spcPct val="0"/>
              </a:spcBef>
              <a:spcAft>
                <a:spcPct val="0"/>
              </a:spcAft>
            </a:pPr>
            <a:r>
              <a:rPr sz="1600" b="0">
                <a:solidFill>
                  <a:srgbClr val="0F1115"/>
                </a:solidFill>
                <a:latin typeface="Calibri" panose="020F0502020204030204" charset="0"/>
                <a:ea typeface="menlo"/>
                <a:cs typeface="Calibri" panose="020F0502020204030204" charset="0"/>
              </a:rPr>
              <a:t>- Argon2id / PBKDF2 (ключи)</a:t>
            </a:r>
            <a:endParaRPr sz="1600" b="0">
              <a:solidFill>
                <a:srgbClr val="0F1115"/>
              </a:solidFill>
              <a:latin typeface="Calibri" panose="020F0502020204030204" charset="0"/>
              <a:ea typeface="menlo"/>
              <a:cs typeface="Calibri" panose="020F0502020204030204" charset="0"/>
            </a:endParaRPr>
          </a:p>
          <a:p>
            <a:pPr marL="0" indent="0" latinLnBrk="1">
              <a:lnSpc>
                <a:spcPts val="1320"/>
              </a:lnSpc>
              <a:spcBef>
                <a:spcPct val="0"/>
              </a:spcBef>
              <a:spcAft>
                <a:spcPct val="0"/>
              </a:spcAft>
            </a:pPr>
            <a:r>
              <a:rPr sz="1600" b="0">
                <a:solidFill>
                  <a:srgbClr val="0F1115"/>
                </a:solidFill>
                <a:latin typeface="Calibri" panose="020F0502020204030204" charset="0"/>
                <a:ea typeface="menlo"/>
                <a:cs typeface="Calibri" panose="020F0502020204030204" charset="0"/>
              </a:rPr>
              <a:t>- SQLite (база данных)</a:t>
            </a:r>
            <a:endParaRPr sz="1600" b="0">
              <a:solidFill>
                <a:srgbClr val="0F1115"/>
              </a:solidFill>
              <a:latin typeface="Calibri" panose="020F0502020204030204" charset="0"/>
              <a:ea typeface="menlo"/>
              <a:cs typeface="Calibri" panose="020F0502020204030204" charset="0"/>
            </a:endParaRPr>
          </a:p>
          <a:p>
            <a:pPr marL="0" indent="0" latinLnBrk="1">
              <a:lnSpc>
                <a:spcPts val="1320"/>
              </a:lnSpc>
              <a:spcBef>
                <a:spcPct val="0"/>
              </a:spcBef>
              <a:spcAft>
                <a:spcPct val="0"/>
              </a:spcAft>
            </a:pPr>
            <a:r>
              <a:rPr sz="1600" b="0">
                <a:solidFill>
                  <a:srgbClr val="0F1115"/>
                </a:solidFill>
                <a:latin typeface="Calibri" panose="020F0502020204030204" charset="0"/>
                <a:ea typeface="menlo"/>
                <a:cs typeface="Calibri" panose="020F0502020204030204" charset="0"/>
              </a:rPr>
              <a:t>- Tkinter (GUI)</a:t>
            </a:r>
            <a:endParaRPr sz="1600" b="0">
              <a:solidFill>
                <a:srgbClr val="0F1115"/>
              </a:solidFill>
              <a:latin typeface="Calibri" panose="020F0502020204030204" charset="0"/>
              <a:ea typeface="menlo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209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5715" y="156210"/>
            <a:ext cx="121862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ru-RU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&amp; Crypto</a:t>
            </a:r>
            <a:endParaRPr lang="en-US" altLang="ru-RU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PlaceHolder 4"/>
          <p:cNvSpPr txBox="1"/>
          <p:nvPr/>
        </p:nvSpPr>
        <p:spPr>
          <a:xfrm>
            <a:off x="9369021" y="6439843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rtlCol="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2000" b="0" strike="noStrike" kern="1200" spc="-1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2</a:t>
            </a:r>
            <a:endParaRPr lang="ru-RU" dirty="0">
              <a:latin typeface="Times New Roman" panose="020206030504050203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1564809" y="6257471"/>
            <a:ext cx="545252" cy="5452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5208" y="6498828"/>
            <a:ext cx="871492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dirty="0">
                <a:solidFill>
                  <a:schemeClr val="bg2">
                    <a:lumMod val="75000"/>
                  </a:schemeClr>
                </a:solidFill>
              </a:rPr>
              <a:t>CryptoSafe Manager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</a:rPr>
              <a:t>. Исполнитель: Трынкина М.В.</a:t>
            </a:r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8" name="Диаграмма 7"/>
          <p:cNvGraphicFramePr/>
          <p:nvPr/>
        </p:nvGraphicFramePr>
        <p:xfrm>
          <a:off x="6580505" y="2030095"/>
          <a:ext cx="4739640" cy="44583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Скругленный прямоугольник 3"/>
          <p:cNvSpPr/>
          <p:nvPr/>
        </p:nvSpPr>
        <p:spPr>
          <a:xfrm>
            <a:off x="599440" y="1592580"/>
            <a:ext cx="5495925" cy="7778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2400"/>
              <a:t>GUI (Tkinter) </a:t>
            </a:r>
            <a:endParaRPr lang="en-US" altLang="ru-RU" sz="240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599440" y="2479040"/>
            <a:ext cx="5495925" cy="7778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2400"/>
              <a:t> Core Layer</a:t>
            </a:r>
            <a:endParaRPr lang="en-US" altLang="ru-RU" sz="240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599440" y="5357495"/>
            <a:ext cx="5495925" cy="7778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2400"/>
              <a:t> SQLite (application-layer encrypt)</a:t>
            </a:r>
            <a:endParaRPr lang="en-US" altLang="ru-RU" sz="240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125855" y="3365500"/>
            <a:ext cx="4969510" cy="18834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ru-RU" altLang="en-US" sz="2000"/>
              <a:t>- </a:t>
            </a:r>
            <a:r>
              <a:rPr lang="en-US" altLang="ru-RU" sz="2000"/>
              <a:t>KeyManager (Argon2 + PBKDF2)</a:t>
            </a:r>
            <a:endParaRPr lang="en-US" altLang="ru-RU" sz="2000"/>
          </a:p>
          <a:p>
            <a:pPr algn="l"/>
            <a:r>
              <a:rPr lang="ru-RU" altLang="en-US" sz="2000"/>
              <a:t>-</a:t>
            </a:r>
            <a:r>
              <a:rPr lang="en-US" altLang="ru-RU" sz="2000"/>
              <a:t> EntryManager (AES-256-GCM)</a:t>
            </a:r>
            <a:endParaRPr lang="en-US" altLang="ru-RU" sz="2000"/>
          </a:p>
          <a:p>
            <a:pPr algn="l"/>
            <a:r>
              <a:rPr lang="ru-RU" altLang="en-US" sz="2000"/>
              <a:t>-</a:t>
            </a:r>
            <a:r>
              <a:rPr lang="en-US" altLang="ru-RU" sz="2000"/>
              <a:t> ClipboardService (</a:t>
            </a:r>
            <a:r>
              <a:rPr lang="en-US" altLang="en-US" sz="2000"/>
              <a:t>платформ-адапт)</a:t>
            </a:r>
            <a:endParaRPr lang="en-US" altLang="en-US" sz="2000"/>
          </a:p>
          <a:p>
            <a:pPr algn="l"/>
            <a:r>
              <a:rPr lang="ru-RU" altLang="en-US" sz="2000"/>
              <a:t>-</a:t>
            </a:r>
            <a:r>
              <a:rPr lang="en-US" altLang="ru-RU" sz="2000"/>
              <a:t> AuditLogger (Ed25519 + hashchain</a:t>
            </a:r>
            <a:r>
              <a:rPr lang="en-US" altLang="ru-RU"/>
              <a:t>)</a:t>
            </a:r>
            <a:endParaRPr lang="ru-R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635" y="0"/>
            <a:ext cx="12192635" cy="1020932"/>
            <a:chOff x="-635" y="0"/>
            <a:chExt cx="12192635" cy="1020932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12192000" cy="1020932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-635" y="135255"/>
              <a:ext cx="12192635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4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КЛЮЧЕВЫЕ</a:t>
              </a:r>
              <a:r>
                <a:rPr lang="ru-RU" altLang="en-US" sz="4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ФУНКЦИИ БЕЗОПАСНОСТИ</a:t>
              </a:r>
              <a:endParaRPr lang="ru-RU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818225" y="1166842"/>
            <a:ext cx="10555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11556343" y="6249005"/>
            <a:ext cx="545252" cy="5452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0" y="6488668"/>
            <a:ext cx="8410128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ru-RU" dirty="0">
                <a:solidFill>
                  <a:schemeClr val="bg2">
                    <a:lumMod val="75000"/>
                  </a:schemeClr>
                </a:solidFill>
                <a:sym typeface="+mn-ea"/>
              </a:rPr>
              <a:t>CryptoSafe Manager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sym typeface="+mn-ea"/>
              </a:rPr>
              <a:t>. Исполнитель: Трынкина М.В.</a:t>
            </a:r>
            <a:endParaRPr lang="ru-RU" dirty="0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363855" y="1105535"/>
            <a:ext cx="11192510" cy="514413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ts val="1680"/>
              </a:lnSpc>
              <a:spcBef>
                <a:spcPts val="900"/>
              </a:spcBef>
              <a:spcAft>
                <a:spcPts val="400"/>
              </a:spcAft>
            </a:pPr>
            <a:r>
              <a:rPr sz="1600" b="1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Буфер обмена</a:t>
            </a:r>
            <a:endParaRPr sz="1600" b="1">
              <a:solidFill>
                <a:srgbClr val="0F1115"/>
              </a:solidFill>
              <a:latin typeface="Times New Roman" panose="02020603050405020304" pitchFamily="18" charset="0"/>
              <a:ea typeface="quote-cjk-patch"/>
              <a:cs typeface="Times New Roman" panose="02020603050405020304" pitchFamily="18" charset="0"/>
            </a:endParaRPr>
          </a:p>
          <a:p>
            <a:pPr marL="0" indent="0">
              <a:lnSpc>
                <a:spcPts val="168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altLang="en-US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Пароль копируется в системный буфер через платформенный адаптер. Запускается отдельный поток мониторинга, который отслеживает содержимое буфера. После истечения таймера или обнаружения внешнего изменения буфер автоматически очищается.</a:t>
            </a:r>
            <a:endParaRPr lang="en-US" altLang="en-US" sz="1600" b="0">
              <a:solidFill>
                <a:srgbClr val="0F1115"/>
              </a:solidFill>
              <a:latin typeface="Times New Roman" panose="02020603050405020304" pitchFamily="18" charset="0"/>
              <a:ea typeface="quote-cjk-patch"/>
              <a:cs typeface="Times New Roman" panose="02020603050405020304" pitchFamily="18" charset="0"/>
            </a:endParaRPr>
          </a:p>
          <a:p>
            <a:pPr marL="0" indent="0">
              <a:lnSpc>
                <a:spcPts val="168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altLang="en-US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Через 30 секунд специальный поток обнуляет всё и чистит системный </a:t>
            </a:r>
            <a:r>
              <a:rPr lang="en-US" altLang="ru-RU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clipboard. </a:t>
            </a:r>
            <a:r>
              <a:rPr lang="en-US" altLang="en-US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В настройках три профиля: Базовый (30 сек), Защищённый (15 сек с мониторингом внешних изменений), Параноидальный (5 сек, пароль вообще не попадает в системный буфер, только внутри процесса).</a:t>
            </a:r>
            <a:endParaRPr lang="en-US" altLang="en-US" sz="1600" b="0">
              <a:solidFill>
                <a:srgbClr val="0F1115"/>
              </a:solidFill>
              <a:latin typeface="Times New Roman" panose="02020603050405020304" pitchFamily="18" charset="0"/>
              <a:ea typeface="quote-cjk-patch"/>
              <a:cs typeface="Times New Roman" panose="02020603050405020304" pitchFamily="18" charset="0"/>
            </a:endParaRPr>
          </a:p>
          <a:p>
            <a:pPr marL="0" indent="0">
              <a:lnSpc>
                <a:spcPts val="168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altLang="en-US" sz="1600" b="1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Импорт/экспорт с шифрованием</a:t>
            </a:r>
            <a:endParaRPr lang="en-US" altLang="en-US" sz="1600" b="1">
              <a:solidFill>
                <a:srgbClr val="0F1115"/>
              </a:solidFill>
              <a:latin typeface="Times New Roman" panose="02020603050405020304" pitchFamily="18" charset="0"/>
              <a:ea typeface="quote-cjk-patch"/>
              <a:cs typeface="Times New Roman" panose="02020603050405020304" pitchFamily="18" charset="0"/>
            </a:endParaRPr>
          </a:p>
          <a:p>
            <a:pPr marL="0" indent="0">
              <a:lnSpc>
                <a:spcPts val="168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altLang="en-US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Записи извлекаются из </a:t>
            </a:r>
            <a:r>
              <a:rPr lang="en-US" altLang="ru-RU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SQLite </a:t>
            </a:r>
            <a:r>
              <a:rPr lang="en-US" altLang="en-US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и объединяются в единый экспортный пакет с данными, метаданными и проверкой целостности. Пакет сериализуется в </a:t>
            </a:r>
            <a:r>
              <a:rPr lang="en-US" altLang="ru-RU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JSON, </a:t>
            </a:r>
            <a:r>
              <a:rPr lang="en-US" altLang="en-US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подписывается через </a:t>
            </a:r>
            <a:r>
              <a:rPr lang="en-US" altLang="ru-RU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SHA-256 </a:t>
            </a:r>
            <a:r>
              <a:rPr lang="en-US" altLang="en-US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и </a:t>
            </a:r>
            <a:r>
              <a:rPr lang="en-US" altLang="ru-RU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HMAC, </a:t>
            </a:r>
            <a:r>
              <a:rPr lang="en-US" altLang="en-US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затем шифруется </a:t>
            </a:r>
            <a:r>
              <a:rPr lang="en-US" altLang="ru-RU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AES-256-GCM </a:t>
            </a:r>
            <a:r>
              <a:rPr lang="en-US" altLang="en-US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с уникальным </a:t>
            </a:r>
            <a:r>
              <a:rPr lang="en-US" altLang="ru-RU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nonce.</a:t>
            </a:r>
            <a:endParaRPr lang="en-US" altLang="ru-RU" sz="1600" b="0">
              <a:solidFill>
                <a:srgbClr val="0F1115"/>
              </a:solidFill>
              <a:latin typeface="Times New Roman" panose="02020603050405020304" pitchFamily="18" charset="0"/>
              <a:ea typeface="quote-cjk-patch"/>
              <a:cs typeface="Times New Roman" panose="02020603050405020304" pitchFamily="18" charset="0"/>
            </a:endParaRPr>
          </a:p>
          <a:p>
            <a:pPr marL="0" indent="0">
              <a:lnSpc>
                <a:spcPts val="168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altLang="en-US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При импорте выполняется проверка структуры, валидация подписи, расшифрование — и только потом загрузка в хранилище.</a:t>
            </a:r>
            <a:endParaRPr lang="en-US" altLang="ru-RU" sz="1600" b="0">
              <a:solidFill>
                <a:srgbClr val="0F1115"/>
              </a:solidFill>
              <a:latin typeface="Times New Roman" panose="02020603050405020304" pitchFamily="18" charset="0"/>
              <a:ea typeface="quote-cjk-patch"/>
              <a:cs typeface="Times New Roman" panose="02020603050405020304" pitchFamily="18" charset="0"/>
            </a:endParaRPr>
          </a:p>
          <a:p>
            <a:pPr marL="0" indent="0">
              <a:lnSpc>
                <a:spcPts val="168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altLang="en-US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Для переноса данных используются </a:t>
            </a:r>
            <a:r>
              <a:rPr lang="en-US" altLang="ru-RU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QR-</a:t>
            </a:r>
            <a:r>
              <a:rPr lang="en-US" altLang="en-US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коды и файловый формат экспорта. </a:t>
            </a:r>
            <a:r>
              <a:rPr lang="en-US" altLang="ru-RU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QR-</a:t>
            </a:r>
            <a:r>
              <a:rPr lang="en-US" altLang="en-US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коды не требуют облачных сервисов, что снижает риск перехвата в сети. Для больших объёмов — классический зашифрованный файл.</a:t>
            </a:r>
            <a:endParaRPr lang="en-US" altLang="en-US" sz="1600" b="0">
              <a:solidFill>
                <a:srgbClr val="0F1115"/>
              </a:solidFill>
              <a:latin typeface="Times New Roman" panose="02020603050405020304" pitchFamily="18" charset="0"/>
              <a:ea typeface="quote-cjk-patch"/>
              <a:cs typeface="Times New Roman" panose="02020603050405020304" pitchFamily="18" charset="0"/>
            </a:endParaRPr>
          </a:p>
          <a:p>
            <a:pPr marL="0" indent="0">
              <a:lnSpc>
                <a:spcPts val="168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altLang="en-US" sz="1600" b="1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Сопротивление </a:t>
            </a:r>
            <a:r>
              <a:rPr lang="en-US" altLang="ru-RU" sz="1600" b="1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side-channel </a:t>
            </a:r>
            <a:r>
              <a:rPr lang="en-US" altLang="en-US" sz="1600" b="1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атакам</a:t>
            </a:r>
            <a:endParaRPr lang="en-US" altLang="en-US" sz="1600" b="1">
              <a:solidFill>
                <a:srgbClr val="0F1115"/>
              </a:solidFill>
              <a:latin typeface="Times New Roman" panose="02020603050405020304" pitchFamily="18" charset="0"/>
              <a:ea typeface="quote-cjk-patch"/>
              <a:cs typeface="Times New Roman" panose="02020603050405020304" pitchFamily="18" charset="0"/>
            </a:endParaRPr>
          </a:p>
          <a:p>
            <a:pPr marL="0" indent="0">
              <a:lnSpc>
                <a:spcPts val="168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altLang="en-US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Криптографические ключи и секретные данные хранятся в защищённой памяти и после использования многократно перезаписываются.</a:t>
            </a:r>
            <a:r>
              <a:rPr lang="ru-RU" altLang="en-US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 </a:t>
            </a:r>
            <a:r>
              <a:rPr lang="en-US" altLang="en-US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Состояние сохраняется в </a:t>
            </a:r>
            <a:r>
              <a:rPr lang="en-US" altLang="ru-RU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SQLite </a:t>
            </a:r>
            <a:r>
              <a:rPr lang="en-US" altLang="en-US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даже при перезапуске приложения. Потеря фокуса на диалоге → автоматическая блокировка </a:t>
            </a:r>
            <a:r>
              <a:rPr lang="en-US" altLang="ru-RU" sz="1600" b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vault.</a:t>
            </a:r>
            <a:endParaRPr lang="en-US" altLang="ru-RU" sz="1600" b="0">
              <a:solidFill>
                <a:srgbClr val="0F1115"/>
              </a:solidFill>
              <a:latin typeface="Times New Roman" panose="02020603050405020304" pitchFamily="18" charset="0"/>
              <a:ea typeface="quote-cjk-patch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1020932"/>
            <a:chOff x="0" y="0"/>
            <a:chExt cx="12192000" cy="1020932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12192000" cy="1020932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3792709" y="156523"/>
              <a:ext cx="460658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4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Работа программы</a:t>
              </a:r>
              <a:endParaRPr lang="ru-RU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val 4"/>
          <p:cNvSpPr/>
          <p:nvPr/>
        </p:nvSpPr>
        <p:spPr>
          <a:xfrm>
            <a:off x="11564809" y="6257471"/>
            <a:ext cx="545252" cy="5452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-8467" y="6479557"/>
            <a:ext cx="840775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ru-RU" dirty="0">
                <a:solidFill>
                  <a:schemeClr val="bg2">
                    <a:lumMod val="75000"/>
                  </a:schemeClr>
                </a:solidFill>
                <a:sym typeface="+mn-ea"/>
              </a:rPr>
              <a:t>CryptoSafe Manager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sym typeface="+mn-ea"/>
              </a:rPr>
              <a:t>. Исполнитель: Трынкина М.В.</a:t>
            </a:r>
            <a:endParaRPr lang="ru-RU" dirty="0"/>
          </a:p>
        </p:txBody>
      </p:sp>
      <p:pic>
        <p:nvPicPr>
          <p:cNvPr id="6" name="20260604_125859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368425" y="1097915"/>
            <a:ext cx="9481820" cy="46615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209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866607" y="156523"/>
            <a:ext cx="446722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endParaRPr lang="en-US" alt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11564809" y="6257471"/>
            <a:ext cx="545252" cy="5452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-1" y="6534834"/>
            <a:ext cx="889846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ru-RU" dirty="0">
                <a:solidFill>
                  <a:schemeClr val="bg2">
                    <a:lumMod val="75000"/>
                  </a:schemeClr>
                </a:solidFill>
                <a:sym typeface="+mn-ea"/>
              </a:rPr>
              <a:t>CryptoSafe Manager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sym typeface="+mn-ea"/>
              </a:rPr>
              <a:t>. Исполнитель: Трынкина М.В.</a:t>
            </a:r>
            <a:endParaRPr lang="ru-RU" dirty="0"/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5969635" y="1642745"/>
            <a:ext cx="5080000" cy="255333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sz="2000" b="0" i="0">
                <a:solidFill>
                  <a:srgbClr val="000000"/>
                </a:solidFill>
                <a:latin typeface="Roboto"/>
                <a:ea typeface="Roboto"/>
              </a:rPr>
              <a:t>pytest запускает тесты</a:t>
            </a:r>
            <a:endParaRPr sz="2000" b="0" i="0">
              <a:solidFill>
                <a:srgbClr val="000000"/>
              </a:solidFill>
              <a:latin typeface="Roboto"/>
              <a:ea typeface="Roboto"/>
            </a:endParaRPr>
          </a:p>
          <a:p>
            <a:pPr marL="0" indent="0"/>
            <a:r>
              <a:rPr sz="2000" b="0" i="0">
                <a:solidFill>
                  <a:srgbClr val="000000"/>
                </a:solidFill>
                <a:latin typeface="Roboto"/>
                <a:ea typeface="Roboto"/>
              </a:rPr>
              <a:t>    ↓</a:t>
            </a:r>
            <a:endParaRPr sz="2000" b="0" i="0">
              <a:solidFill>
                <a:srgbClr val="000000"/>
              </a:solidFill>
              <a:latin typeface="Roboto"/>
              <a:ea typeface="Roboto"/>
            </a:endParaRPr>
          </a:p>
          <a:p>
            <a:pPr marL="0" indent="0" latinLnBrk="1"/>
            <a:r>
              <a:rPr sz="2000" b="0" i="0">
                <a:solidFill>
                  <a:srgbClr val="3390EC"/>
                </a:solidFill>
                <a:latin typeface="Roboto"/>
                <a:ea typeface="Roboto"/>
                <a:hlinkClick r:id="rId1" tooltip="https://coverage.py/"/>
              </a:rPr>
              <a:t>coverage.py</a:t>
            </a:r>
            <a:r>
              <a:rPr sz="2000" b="0" i="0">
                <a:solidFill>
                  <a:srgbClr val="000000"/>
                </a:solidFill>
                <a:latin typeface="Roboto"/>
                <a:ea typeface="Roboto"/>
              </a:rPr>
              <a:t> через sys.settrace() фиксирует</a:t>
            </a:r>
            <a:endParaRPr sz="2000" b="0" i="0">
              <a:solidFill>
                <a:srgbClr val="000000"/>
              </a:solidFill>
              <a:latin typeface="Roboto"/>
              <a:ea typeface="Roboto"/>
            </a:endParaRPr>
          </a:p>
          <a:p>
            <a:pPr marL="0" indent="0"/>
            <a:r>
              <a:rPr sz="2000" b="0" i="0">
                <a:solidFill>
                  <a:srgbClr val="000000"/>
                </a:solidFill>
                <a:latin typeface="Roboto"/>
                <a:ea typeface="Roboto"/>
              </a:rPr>
              <a:t>каждую выполненную строку кода в src/</a:t>
            </a:r>
            <a:endParaRPr sz="2000" b="0" i="0">
              <a:solidFill>
                <a:srgbClr val="000000"/>
              </a:solidFill>
              <a:latin typeface="Roboto"/>
              <a:ea typeface="Roboto"/>
            </a:endParaRPr>
          </a:p>
          <a:p>
            <a:pPr marL="0" indent="0"/>
            <a:r>
              <a:rPr sz="2000" b="0" i="0">
                <a:solidFill>
                  <a:srgbClr val="000000"/>
                </a:solidFill>
                <a:latin typeface="Roboto"/>
                <a:ea typeface="Roboto"/>
              </a:rPr>
              <a:t>    ↓</a:t>
            </a:r>
            <a:endParaRPr sz="2000" b="0" i="0">
              <a:solidFill>
                <a:srgbClr val="000000"/>
              </a:solidFill>
              <a:latin typeface="Roboto"/>
              <a:ea typeface="Roboto"/>
            </a:endParaRPr>
          </a:p>
          <a:p>
            <a:pPr marL="0" indent="0"/>
            <a:r>
              <a:rPr sz="2000" b="0" i="0">
                <a:solidFill>
                  <a:srgbClr val="000000"/>
                </a:solidFill>
                <a:latin typeface="Roboto"/>
                <a:ea typeface="Roboto"/>
              </a:rPr>
              <a:t>сохраняет в файл .coverage (SQLite)</a:t>
            </a:r>
            <a:endParaRPr sz="2000" b="0" i="0">
              <a:solidFill>
                <a:srgbClr val="000000"/>
              </a:solidFill>
              <a:latin typeface="Roboto"/>
              <a:ea typeface="Roboto"/>
            </a:endParaRPr>
          </a:p>
          <a:p>
            <a:pPr marL="0" indent="0"/>
            <a:r>
              <a:rPr sz="2000" b="0" i="0">
                <a:solidFill>
                  <a:srgbClr val="000000"/>
                </a:solidFill>
                <a:latin typeface="Roboto"/>
                <a:ea typeface="Roboto"/>
              </a:rPr>
              <a:t>    ↓</a:t>
            </a:r>
            <a:endParaRPr sz="2000" b="0" i="0">
              <a:solidFill>
                <a:srgbClr val="000000"/>
              </a:solidFill>
              <a:latin typeface="Roboto"/>
              <a:ea typeface="Roboto"/>
            </a:endParaRPr>
          </a:p>
          <a:p>
            <a:pPr marL="0" indent="0"/>
            <a:r>
              <a:rPr sz="2000" b="0" i="0">
                <a:solidFill>
                  <a:srgbClr val="000000"/>
                </a:solidFill>
                <a:latin typeface="Roboto"/>
                <a:ea typeface="Roboto"/>
              </a:rPr>
              <a:t>из .coverage генерирует htmlcov/</a:t>
            </a:r>
            <a:endParaRPr sz="2000" b="0" i="0">
              <a:solidFill>
                <a:srgbClr val="000000"/>
              </a:solidFill>
              <a:latin typeface="Roboto"/>
              <a:ea typeface="Roboto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" y="1746885"/>
            <a:ext cx="4175125" cy="4255135"/>
          </a:xfrm>
          <a:prstGeom prst="rect">
            <a:avLst/>
          </a:prstGeom>
        </p:spPr>
      </p:pic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770" y="5220335"/>
            <a:ext cx="5089525" cy="7816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209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524943" y="156523"/>
            <a:ext cx="51421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endParaRPr lang="ru-RU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564809" y="6245015"/>
            <a:ext cx="545252" cy="5452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-80434" y="6467101"/>
            <a:ext cx="869103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ru-RU" dirty="0">
                <a:solidFill>
                  <a:schemeClr val="bg2">
                    <a:lumMod val="75000"/>
                  </a:schemeClr>
                </a:solidFill>
                <a:sym typeface="+mn-ea"/>
              </a:rPr>
              <a:t>CryptoSafe Manager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sym typeface="+mn-ea"/>
              </a:rPr>
              <a:t>. Исполнитель: Трынкина М.В.</a:t>
            </a:r>
            <a:endParaRPr lang="ru-RU" dirty="0"/>
          </a:p>
        </p:txBody>
      </p:sp>
      <p:pic>
        <p:nvPicPr>
          <p:cNvPr id="12" name="Picture 11" descr="A black text on a black background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850" y="2547125"/>
            <a:ext cx="4152900" cy="1702689"/>
          </a:xfrm>
          <a:prstGeom prst="rect">
            <a:avLst/>
          </a:prstGeom>
        </p:spPr>
      </p:pic>
      <p:pic>
        <p:nvPicPr>
          <p:cNvPr id="14" name="Picture 13" descr="A black cat in a circle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36" y="2881112"/>
            <a:ext cx="1034714" cy="1034714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035" y="1867535"/>
            <a:ext cx="3759200" cy="3752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2437</Words>
  <Application>WPS Presentation</Application>
  <PresentationFormat>Widescreen</PresentationFormat>
  <Paragraphs>87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Arial</vt:lpstr>
      <vt:lpstr>DejaVu Sans</vt:lpstr>
      <vt:lpstr>Calibri</vt:lpstr>
      <vt:lpstr>Times New Roman</vt:lpstr>
      <vt:lpstr>Times New Roman</vt:lpstr>
      <vt:lpstr>menlo</vt:lpstr>
      <vt:lpstr>quote-cjk-patch</vt:lpstr>
      <vt:lpstr>Seminaria</vt:lpstr>
      <vt:lpstr>Roboto</vt:lpstr>
      <vt:lpstr>Aptos</vt:lpstr>
      <vt:lpstr>Segoe UI</vt:lpstr>
      <vt:lpstr>Microsoft YaHei</vt:lpstr>
      <vt:lpstr>Arial Unicode MS</vt:lpstr>
      <vt:lpstr>Aptos Display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Максим Павлюк</dc:creator>
  <cp:lastModifiedBy>User</cp:lastModifiedBy>
  <cp:revision>8</cp:revision>
  <dcterms:created xsi:type="dcterms:W3CDTF">2025-12-13T22:30:00Z</dcterms:created>
  <dcterms:modified xsi:type="dcterms:W3CDTF">2026-06-16T10:51:02Z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9ED6CB060F844C9EBB682FA9B3C6CD61_13</vt:lpwstr>
  </property>
  <property fmtid="{D5CDD505-2E9C-101B-9397-08002B2CF9AE}" pid="3" name="KSOProductBuildVer">
    <vt:lpwstr>1049-12.1.0.26880</vt:lpwstr>
  </property>
</Properties>
</file>